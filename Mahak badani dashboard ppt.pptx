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6c8bb14e-7d3f-9f2c-0f12-0afc4abca79e}">
          <p14:sldIdLst>
            <p14:sldId id="256"/>
            <p14:sldId id="257"/>
            <p14:sldId id="258"/>
          </p14:sldIdLst>
        </p14:section>
        <p14:section name="Analysis" id="{158c34ef-6c1a-8e00-3bf7-693910536ba0}">
          <p14:sldIdLst>
            <p14:sldId id="259"/>
            <p14:sldId id="260"/>
            <p14:sldId id="261"/>
          </p14:sldIdLst>
        </p14:section>
        <p14:section name="Takeaways" id="{19ecfc5a-2472-3c0d-b7ab-35e36e7d8b16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B2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B2A"/>
                </a:solidFill>
                <a:latin typeface="+mn-lt"/>
              </a:rPr>
              <a:t>Energy generated by plant type (total 1.27M MWh)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Energy (K MWh)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998B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07A1F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2E5E8C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Wind</c:v>
                </c:pt>
                <c:pt idx="1">
                  <c:v>Solar</c:v>
                </c:pt>
                <c:pt idx="2">
                  <c:v>Hybrid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541.75</c:v>
                </c:pt>
                <c:pt idx="1">
                  <c:v>454.02</c:v>
                </c:pt>
                <c:pt idx="2">
                  <c:v>278.8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1B2B2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B2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B2A"/>
                </a:solidFill>
                <a:latin typeface="+mn-lt"/>
              </a:rPr>
              <a:t>Revenue by state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bn)</c:v>
                </c:pt>
              </c:strCache>
            </c:strRef>
          </c:tx>
          <c:spPr>
            <a:solidFill>
              <a:srgbClr val="9B233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2B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B233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998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998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998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B998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Gujarat</c:v>
                  </c:pt>
                  <c:pt idx="1">
                    <c:v>Rajasthan</c:v>
                  </c:pt>
                  <c:pt idx="2">
                    <c:v>Tamil Nadu</c:v>
                  </c:pt>
                  <c:pt idx="3">
                    <c:v>Karnataka</c:v>
                  </c:pt>
                  <c:pt idx="4">
                    <c:v>Maharashtra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0.94</c:v>
                </c:pt>
                <c:pt idx="1">
                  <c:v>1.3</c:v>
                </c:pt>
                <c:pt idx="2">
                  <c:v>1.33</c:v>
                </c:pt>
                <c:pt idx="3">
                  <c:v>1.36</c:v>
                </c:pt>
                <c:pt idx="4">
                  <c:v>1.38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400" u="none">
                  <a:solidFill>
                    <a:srgbClr val="1B2B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B2B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6"/>
          <c:min val="0"/>
        </c:scaling>
        <c:delete val="0"/>
        <c:axPos val="b"/>
        <c:majorGridlines>
          <c:spPr>
            <a:ln w="9525" cap="flat">
              <a:solidFill>
                <a:srgbClr val="D5E3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F7270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F7270"/>
                    </a:solidFill>
                    <a:latin typeface="+mn-lt"/>
                  </a:rPr>
                  <a:t>Revenue (₹ bn)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2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4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B2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B2A"/>
                </a:solidFill>
                <a:latin typeface="+mn-lt"/>
              </a:rPr>
              <a:t>Downtime hours by plant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Downtime (hrs)</c:v>
                </c:pt>
              </c:strCache>
            </c:strRef>
          </c:tx>
          <c:spPr>
            <a:solidFill>
              <a:srgbClr val="1B998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2B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99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998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998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B233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B2335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Hybrid Plant Central</c:v>
                  </c:pt>
                  <c:pt idx="1">
                    <c:v>Solar Plant B</c:v>
                  </c:pt>
                  <c:pt idx="2">
                    <c:v>Wind Farm North</c:v>
                  </c:pt>
                  <c:pt idx="3">
                    <c:v>Wind Farm West</c:v>
                  </c:pt>
                  <c:pt idx="4">
                    <c:v>Solar Plant 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658</c:v>
                </c:pt>
                <c:pt idx="1">
                  <c:v>702</c:v>
                </c:pt>
                <c:pt idx="2">
                  <c:v>705</c:v>
                </c:pt>
                <c:pt idx="3">
                  <c:v>772</c:v>
                </c:pt>
                <c:pt idx="4">
                  <c:v>795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400" u="none">
                  <a:solidFill>
                    <a:srgbClr val="1B2B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B2B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"/>
          <c:min val="0"/>
        </c:scaling>
        <c:delete val="0"/>
        <c:axPos val="b"/>
        <c:majorGridlines>
          <c:spPr>
            <a:ln w="9525" cap="flat">
              <a:solidFill>
                <a:srgbClr val="D5E3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F7270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F7270"/>
                    </a:solidFill>
                    <a:latin typeface="+mn-lt"/>
                  </a:rPr>
                  <a:t>Downtime (hours)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2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walks through the Renewable Energy Plant Performance Dashboard: what each visual shows, what the numbers say, and what we should do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headline KPIs sit across the top of the dashboard. Dividing them gives useful ratios: roughly ₹4,980 revenue per MWh, an operating margin close to 100%, and about 2.9 downtime hours per 1,000 MWh. The near-100% margin is unusual and worth validating - see the final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Orientation slide. KPIs on top for the headline numbers, then each chart answers a single question: which plant type, which state, which year, which plant has the most downtime.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donut splits the 1.27M MWh total by plant type. Wind is the backbone, solar is a strong second, and hybrid is the smallest contributor. The dashboard's column chart (right side) shows the same split as bars.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is spread fairly evenly across four states, so no single state dominates. Gujarat is the clear outlier at roughly a third less than the leader. The dashboard doesn't show why - capacity, tariff, curtailment or downtime could each play a 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Downtime ranges from roughly 658 to 795 hours per plant. The narrow spread suggests a fleet-wide maintenance or grid-availability issue instead of one problem site, though Solar Plant A and Wind Farm West are the first places to look.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takeaways. The last one is a data-quality flag: operating profit (₹6.31bn) is almost equal to revenue (₹6.32bn), which implies almost no operating cost is captured. And 2026 looks like a partial year.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screenshot of the dashboard for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F3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69494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Renewable Energy Plant Performance Dashboard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0F3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6949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Renewable Energy Plant Performance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 guided walkthrough of generation, revenue and downtime across our wind, solar and hybrid plants</a:t>
            </a:r>
            <a:endParaRPr lang="en-US" sz="1800" dirty="0"/>
          </a:p>
        </p:txBody>
      </p:sp>
      <p:sp>
        <p:nvSpPr>
          <p:cNvPr id="4" name="Motif circle large"/>
          <p:cNvSpPr/>
          <p:nvPr/>
        </p:nvSpPr>
        <p:spPr>
          <a:xfrm>
            <a:off x="8138160" y="1097280"/>
            <a:ext cx="3566160" cy="3566160"/>
          </a:xfrm>
          <a:prstGeom prst="ellipse">
            <a:avLst/>
          </a:prstGeom>
          <a:solidFill>
            <a:schemeClr val="accent1">
              <a:alpha val="65000"/>
            </a:schemeClr>
          </a:solidFill>
          <a:ln/>
        </p:spPr>
      </p:sp>
      <p:sp>
        <p:nvSpPr>
          <p:cNvPr id="5" name="Motif circle small"/>
          <p:cNvSpPr/>
          <p:nvPr/>
        </p:nvSpPr>
        <p:spPr>
          <a:xfrm>
            <a:off x="9784080" y="3566160"/>
            <a:ext cx="1828800" cy="1828800"/>
          </a:xfrm>
          <a:prstGeom prst="ellipse">
            <a:avLst/>
          </a:prstGeom>
          <a:solidFill>
            <a:schemeClr val="accent2">
              <a:alpha val="85000"/>
            </a:schemeClr>
          </a:solidFill>
          <a:ln/>
        </p:spPr>
      </p:sp>
      <p:pic>
        <p:nvPicPr>
          <p:cNvPr id="6" name="Bolt icon" descr="Lightning bo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2103120"/>
            <a:ext cx="1554480" cy="1554480"/>
          </a:xfrm>
          <a:prstGeom prst="rect">
            <a:avLst/>
          </a:prstGeom>
        </p:spPr>
      </p:pic>
      <p:sp>
        <p:nvSpPr>
          <p:cNvPr id="7" name="Source note"/>
          <p:cNvSpPr txBox="1"/>
          <p:nvPr/>
        </p:nvSpPr>
        <p:spPr>
          <a:xfrm>
            <a:off x="731520" y="6126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Source: Power BI dashboard · figures read from the dashboard visuals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at a glance</a:t>
            </a:r>
            <a:endParaRPr lang="en-US" sz="3400" dirty="0"/>
          </a:p>
        </p:txBody>
      </p:sp>
      <p:sp>
        <p:nvSpPr>
          <p:cNvPr id="3" name="KPI card 1"/>
          <p:cNvSpPr/>
          <p:nvPr/>
        </p:nvSpPr>
        <p:spPr>
          <a:xfrm>
            <a:off x="548640" y="146304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4" name="KPI icon bg 1"/>
          <p:cNvSpPr/>
          <p:nvPr/>
        </p:nvSpPr>
        <p:spPr>
          <a:xfrm>
            <a:off x="822960" y="16916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KPI icon 1" descr="Energy generated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837944"/>
            <a:ext cx="301752" cy="301752"/>
          </a:xfrm>
          <a:prstGeom prst="rect">
            <a:avLst/>
          </a:prstGeom>
        </p:spPr>
      </p:pic>
      <p:sp>
        <p:nvSpPr>
          <p:cNvPr id="6" name="KPI value 1"/>
          <p:cNvSpPr txBox="1"/>
          <p:nvPr/>
        </p:nvSpPr>
        <p:spPr>
          <a:xfrm>
            <a:off x="822960" y="23774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1.27M</a:t>
            </a:r>
            <a:endParaRPr lang="en-US" sz="3600" dirty="0"/>
          </a:p>
        </p:txBody>
      </p:sp>
      <p:sp>
        <p:nvSpPr>
          <p:cNvPr id="7" name="KPI label 1"/>
          <p:cNvSpPr txBox="1"/>
          <p:nvPr/>
        </p:nvSpPr>
        <p:spPr>
          <a:xfrm>
            <a:off x="822960" y="3017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Energy generated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MWh, 2024–2026</a:t>
            </a:r>
            <a:endParaRPr lang="en-US" sz="1600" dirty="0"/>
          </a:p>
        </p:txBody>
      </p:sp>
      <p:sp>
        <p:nvSpPr>
          <p:cNvPr id="8" name="KPI card 2"/>
          <p:cNvSpPr/>
          <p:nvPr/>
        </p:nvSpPr>
        <p:spPr>
          <a:xfrm>
            <a:off x="3383280" y="146304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9" name="KPI icon bg 2"/>
          <p:cNvSpPr/>
          <p:nvPr/>
        </p:nvSpPr>
        <p:spPr>
          <a:xfrm>
            <a:off x="3657600" y="169164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KPI icon 2" descr="Revenu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904" y="1837944"/>
            <a:ext cx="301752" cy="301752"/>
          </a:xfrm>
          <a:prstGeom prst="rect">
            <a:avLst/>
          </a:prstGeom>
        </p:spPr>
      </p:pic>
      <p:sp>
        <p:nvSpPr>
          <p:cNvPr id="11" name="KPI value 2"/>
          <p:cNvSpPr txBox="1"/>
          <p:nvPr/>
        </p:nvSpPr>
        <p:spPr>
          <a:xfrm>
            <a:off x="3657600" y="23774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₹6.32bn</a:t>
            </a:r>
            <a:endParaRPr lang="en-US" sz="3600" dirty="0"/>
          </a:p>
        </p:txBody>
      </p:sp>
      <p:sp>
        <p:nvSpPr>
          <p:cNvPr id="12" name="KPI label 2"/>
          <p:cNvSpPr txBox="1"/>
          <p:nvPr/>
        </p:nvSpPr>
        <p:spPr>
          <a:xfrm>
            <a:off x="3657600" y="3017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Revenue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Sum of RevenueINR</a:t>
            </a:r>
            <a:endParaRPr lang="en-US" sz="1600" dirty="0"/>
          </a:p>
        </p:txBody>
      </p:sp>
      <p:sp>
        <p:nvSpPr>
          <p:cNvPr id="13" name="KPI card 3"/>
          <p:cNvSpPr/>
          <p:nvPr/>
        </p:nvSpPr>
        <p:spPr>
          <a:xfrm>
            <a:off x="6217920" y="146304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4" name="KPI icon bg 3"/>
          <p:cNvSpPr/>
          <p:nvPr/>
        </p:nvSpPr>
        <p:spPr>
          <a:xfrm>
            <a:off x="6492240" y="169164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KPI icon 3" descr="Operating profi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44" y="1837944"/>
            <a:ext cx="301752" cy="301752"/>
          </a:xfrm>
          <a:prstGeom prst="rect">
            <a:avLst/>
          </a:prstGeom>
        </p:spPr>
      </p:pic>
      <p:sp>
        <p:nvSpPr>
          <p:cNvPr id="16" name="KPI value 3"/>
          <p:cNvSpPr txBox="1"/>
          <p:nvPr/>
        </p:nvSpPr>
        <p:spPr>
          <a:xfrm>
            <a:off x="6492240" y="23774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₹6.31bn</a:t>
            </a:r>
            <a:endParaRPr lang="en-US" sz="3600" dirty="0"/>
          </a:p>
        </p:txBody>
      </p:sp>
      <p:sp>
        <p:nvSpPr>
          <p:cNvPr id="17" name="KPI label 3"/>
          <p:cNvSpPr txBox="1"/>
          <p:nvPr/>
        </p:nvSpPr>
        <p:spPr>
          <a:xfrm>
            <a:off x="6492240" y="3017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Operating profit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Sum of OperatingProfitINR</a:t>
            </a:r>
            <a:endParaRPr lang="en-US" sz="1600" dirty="0"/>
          </a:p>
        </p:txBody>
      </p:sp>
      <p:sp>
        <p:nvSpPr>
          <p:cNvPr id="18" name="KPI card 4"/>
          <p:cNvSpPr/>
          <p:nvPr/>
        </p:nvSpPr>
        <p:spPr>
          <a:xfrm>
            <a:off x="9052560" y="146304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9" name="KPI icon bg 4"/>
          <p:cNvSpPr/>
          <p:nvPr/>
        </p:nvSpPr>
        <p:spPr>
          <a:xfrm>
            <a:off x="9326880" y="169164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KPI icon 4" descr="Downtime hours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3184" y="1837944"/>
            <a:ext cx="301752" cy="301752"/>
          </a:xfrm>
          <a:prstGeom prst="rect">
            <a:avLst/>
          </a:prstGeom>
        </p:spPr>
      </p:pic>
      <p:sp>
        <p:nvSpPr>
          <p:cNvPr id="21" name="KPI value 4"/>
          <p:cNvSpPr txBox="1"/>
          <p:nvPr/>
        </p:nvSpPr>
        <p:spPr>
          <a:xfrm>
            <a:off x="9326880" y="23774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3.64K</a:t>
            </a:r>
            <a:endParaRPr lang="en-US" sz="3600" dirty="0"/>
          </a:p>
        </p:txBody>
      </p:sp>
      <p:sp>
        <p:nvSpPr>
          <p:cNvPr id="22" name="KPI label 4"/>
          <p:cNvSpPr txBox="1"/>
          <p:nvPr/>
        </p:nvSpPr>
        <p:spPr>
          <a:xfrm>
            <a:off x="9326880" y="3017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Downtime hours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Across all plants</a:t>
            </a:r>
            <a:endParaRPr lang="en-US" sz="1600" dirty="0"/>
          </a:p>
        </p:txBody>
      </p:sp>
      <p:sp>
        <p:nvSpPr>
          <p:cNvPr id="23" name="Derived heading"/>
          <p:cNvSpPr txBox="1"/>
          <p:nvPr/>
        </p:nvSpPr>
        <p:spPr>
          <a:xfrm>
            <a:off x="548640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totals imply</a:t>
            </a:r>
            <a:endParaRPr lang="en-US" sz="2000" dirty="0"/>
          </a:p>
        </p:txBody>
      </p:sp>
      <p:sp>
        <p:nvSpPr>
          <p:cNvPr id="24" name="Derived card 1"/>
          <p:cNvSpPr/>
          <p:nvPr/>
        </p:nvSpPr>
        <p:spPr>
          <a:xfrm>
            <a:off x="548640" y="4663440"/>
            <a:ext cx="3502152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12700">
            <a:solidFill>
              <a:srgbClr val="D5E3E0"/>
            </a:solidFill>
            <a:prstDash val="solid"/>
          </a:ln>
        </p:spPr>
      </p:sp>
      <p:sp>
        <p:nvSpPr>
          <p:cNvPr id="25" name="Derived text 1"/>
          <p:cNvSpPr txBox="1"/>
          <p:nvPr/>
        </p:nvSpPr>
        <p:spPr>
          <a:xfrm>
            <a:off x="822960" y="47548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₹4,980</a:t>
            </a:r>
            <a:endParaRPr lang="en-US" sz="2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revenue earned per MWh generated</a:t>
            </a:r>
            <a:endParaRPr lang="en-US" sz="2800" dirty="0"/>
          </a:p>
        </p:txBody>
      </p:sp>
      <p:sp>
        <p:nvSpPr>
          <p:cNvPr id="26" name="Derived card 2"/>
          <p:cNvSpPr/>
          <p:nvPr/>
        </p:nvSpPr>
        <p:spPr>
          <a:xfrm>
            <a:off x="4325112" y="4663440"/>
            <a:ext cx="3502152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12700">
            <a:solidFill>
              <a:srgbClr val="D5E3E0"/>
            </a:solidFill>
            <a:prstDash val="solid"/>
          </a:ln>
        </p:spPr>
      </p:sp>
      <p:sp>
        <p:nvSpPr>
          <p:cNvPr id="27" name="Derived text 2"/>
          <p:cNvSpPr txBox="1"/>
          <p:nvPr/>
        </p:nvSpPr>
        <p:spPr>
          <a:xfrm>
            <a:off x="4599432" y="47548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99.8%</a:t>
            </a:r>
            <a:endParaRPr lang="en-US" sz="2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operating profit as a share of revenue</a:t>
            </a:r>
            <a:endParaRPr lang="en-US" sz="2800" dirty="0"/>
          </a:p>
        </p:txBody>
      </p:sp>
      <p:sp>
        <p:nvSpPr>
          <p:cNvPr id="28" name="Derived card 3"/>
          <p:cNvSpPr/>
          <p:nvPr/>
        </p:nvSpPr>
        <p:spPr>
          <a:xfrm>
            <a:off x="8101584" y="4663440"/>
            <a:ext cx="3502152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12700">
            <a:solidFill>
              <a:srgbClr val="D5E3E0"/>
            </a:solidFill>
            <a:prstDash val="solid"/>
          </a:ln>
        </p:spPr>
      </p:sp>
      <p:sp>
        <p:nvSpPr>
          <p:cNvPr id="29" name="Derived text 3"/>
          <p:cNvSpPr txBox="1"/>
          <p:nvPr/>
        </p:nvSpPr>
        <p:spPr>
          <a:xfrm>
            <a:off x="8375904" y="47548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2.9 hrs</a:t>
            </a:r>
            <a:endParaRPr lang="en-US" sz="2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downtime per 1,000 MWh generated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dashboard is organised</a:t>
            </a:r>
            <a:endParaRPr lang="en-US" sz="3400" dirty="0"/>
          </a:p>
        </p:txBody>
      </p:sp>
      <p:pic>
        <p:nvPicPr>
          <p:cNvPr id="3" name="Dashboard screenshot" descr="Renewable Energy Plant Performance Dashboard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6858000" cy="4257446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4" name="Step circle 1"/>
          <p:cNvSpPr/>
          <p:nvPr/>
        </p:nvSpPr>
        <p:spPr>
          <a:xfrm>
            <a:off x="7818120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Step number 1"/>
          <p:cNvSpPr txBox="1"/>
          <p:nvPr/>
        </p:nvSpPr>
        <p:spPr>
          <a:xfrm>
            <a:off x="78181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tep text 1"/>
          <p:cNvSpPr txBox="1"/>
          <p:nvPr/>
        </p:nvSpPr>
        <p:spPr>
          <a:xfrm>
            <a:off x="8503920" y="1463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Top: KPI cards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Downtime, energy, revenue and operating profit totals.</a:t>
            </a:r>
            <a:endParaRPr lang="en-US" sz="1800" dirty="0"/>
          </a:p>
        </p:txBody>
      </p:sp>
      <p:sp>
        <p:nvSpPr>
          <p:cNvPr id="7" name="Step circle 2"/>
          <p:cNvSpPr/>
          <p:nvPr/>
        </p:nvSpPr>
        <p:spPr>
          <a:xfrm>
            <a:off x="7818120" y="2606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tep number 2"/>
          <p:cNvSpPr txBox="1"/>
          <p:nvPr/>
        </p:nvSpPr>
        <p:spPr>
          <a:xfrm>
            <a:off x="781812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Step text 2"/>
          <p:cNvSpPr txBox="1"/>
          <p:nvPr/>
        </p:nvSpPr>
        <p:spPr>
          <a:xfrm>
            <a:off x="8503920" y="25603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Left: donut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Energy share by plant type (wind, solar, hybrid).</a:t>
            </a:r>
            <a:endParaRPr lang="en-US" sz="1800" dirty="0"/>
          </a:p>
        </p:txBody>
      </p:sp>
      <p:sp>
        <p:nvSpPr>
          <p:cNvPr id="10" name="Step circle 3"/>
          <p:cNvSpPr/>
          <p:nvPr/>
        </p:nvSpPr>
        <p:spPr>
          <a:xfrm>
            <a:off x="7818120" y="3703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Step number 3"/>
          <p:cNvSpPr txBox="1"/>
          <p:nvPr/>
        </p:nvSpPr>
        <p:spPr>
          <a:xfrm>
            <a:off x="781812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Step text 3"/>
          <p:cNvSpPr txBox="1"/>
          <p:nvPr/>
        </p:nvSpPr>
        <p:spPr>
          <a:xfrm>
            <a:off x="8503920" y="36576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Centre: bars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Revenue ranked by state.</a:t>
            </a:r>
            <a:endParaRPr lang="en-US" sz="1800" dirty="0"/>
          </a:p>
        </p:txBody>
      </p:sp>
      <p:sp>
        <p:nvSpPr>
          <p:cNvPr id="13" name="Step circle 4"/>
          <p:cNvSpPr/>
          <p:nvPr/>
        </p:nvSpPr>
        <p:spPr>
          <a:xfrm>
            <a:off x="7818120" y="4800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Step number 4"/>
          <p:cNvSpPr txBox="1"/>
          <p:nvPr/>
        </p:nvSpPr>
        <p:spPr>
          <a:xfrm>
            <a:off x="781812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Step text 4"/>
          <p:cNvSpPr txBox="1"/>
          <p:nvPr/>
        </p:nvSpPr>
        <p:spPr>
          <a:xfrm>
            <a:off x="8503920" y="47548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Right: trend and plants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Energy by year and type; downtime by plant.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 leads generation with a 42.5% share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58521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Wind card"/>
          <p:cNvSpPr/>
          <p:nvPr/>
        </p:nvSpPr>
        <p:spPr>
          <a:xfrm>
            <a:off x="6766560" y="1463040"/>
            <a:ext cx="48463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5" name="Wind text"/>
          <p:cNvSpPr txBox="1"/>
          <p:nvPr/>
        </p:nvSpPr>
        <p:spPr>
          <a:xfrm>
            <a:off x="7040880" y="1572768"/>
            <a:ext cx="42976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Wind: 541.75K MWh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largest contributor at 42.5% of all energy generated.</a:t>
            </a:r>
            <a:endParaRPr lang="en-US" sz="2000" dirty="0"/>
          </a:p>
        </p:txBody>
      </p:sp>
      <p:sp>
        <p:nvSpPr>
          <p:cNvPr id="6" name="Solar card"/>
          <p:cNvSpPr/>
          <p:nvPr/>
        </p:nvSpPr>
        <p:spPr>
          <a:xfrm>
            <a:off x="6766560" y="3017520"/>
            <a:ext cx="48463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7" name="Solar text"/>
          <p:cNvSpPr txBox="1"/>
          <p:nvPr/>
        </p:nvSpPr>
        <p:spPr>
          <a:xfrm>
            <a:off x="7040880" y="3127248"/>
            <a:ext cx="42976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Solar: 454.02K MWh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35.6% share – about 88K MWh behind wind.</a:t>
            </a:r>
            <a:endParaRPr lang="en-US" sz="2000" dirty="0"/>
          </a:p>
        </p:txBody>
      </p:sp>
      <p:sp>
        <p:nvSpPr>
          <p:cNvPr id="8" name="Hybrid card"/>
          <p:cNvSpPr/>
          <p:nvPr/>
        </p:nvSpPr>
        <p:spPr>
          <a:xfrm>
            <a:off x="6766560" y="4572000"/>
            <a:ext cx="48463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9" name="Hybrid text"/>
          <p:cNvSpPr txBox="1"/>
          <p:nvPr/>
        </p:nvSpPr>
        <p:spPr>
          <a:xfrm>
            <a:off x="7040880" y="4681728"/>
            <a:ext cx="42976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Hybrid: 278.8K MWh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21.9% share – the smallest, roughly half of wind's output.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states earn similar revenue; Gujarat trails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7665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hart footnote"/>
          <p:cNvSpPr txBox="1"/>
          <p:nvPr/>
        </p:nvSpPr>
        <p:spPr>
          <a:xfrm>
            <a:off x="548640" y="5989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Values read from the dashboard bar chart; approximate.</a:t>
            </a:r>
            <a:endParaRPr lang="en-US" sz="1000" dirty="0"/>
          </a:p>
        </p:txBody>
      </p:sp>
      <p:sp>
        <p:nvSpPr>
          <p:cNvPr id="5" name="Maharashtra card"/>
          <p:cNvSpPr/>
          <p:nvPr/>
        </p:nvSpPr>
        <p:spPr>
          <a:xfrm>
            <a:off x="7680960" y="1463040"/>
            <a:ext cx="39319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6" name="Maharashtra text"/>
          <p:cNvSpPr txBox="1"/>
          <p:nvPr/>
        </p:nvSpPr>
        <p:spPr>
          <a:xfrm>
            <a:off x="7955280" y="1572768"/>
            <a:ext cx="33832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Maharashtra: ≈ ₹1.38bn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top earner among the five states.</a:t>
            </a:r>
            <a:endParaRPr lang="en-US" sz="2000" dirty="0"/>
          </a:p>
        </p:txBody>
      </p:sp>
      <p:sp>
        <p:nvSpPr>
          <p:cNvPr id="7" name="Top four card"/>
          <p:cNvSpPr/>
          <p:nvPr/>
        </p:nvSpPr>
        <p:spPr>
          <a:xfrm>
            <a:off x="7680960" y="3017520"/>
            <a:ext cx="39319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8" name="Top four text"/>
          <p:cNvSpPr txBox="1"/>
          <p:nvPr/>
        </p:nvSpPr>
        <p:spPr>
          <a:xfrm>
            <a:off x="7955280" y="3127248"/>
            <a:ext cx="33832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Tight top four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Karnataka, Tamil Nadu and Rajasthan sit within ~6% of the leader.</a:t>
            </a:r>
            <a:endParaRPr lang="en-US" sz="2000" dirty="0"/>
          </a:p>
        </p:txBody>
      </p:sp>
      <p:sp>
        <p:nvSpPr>
          <p:cNvPr id="9" name="Gujarat card"/>
          <p:cNvSpPr/>
          <p:nvPr/>
        </p:nvSpPr>
        <p:spPr>
          <a:xfrm>
            <a:off x="7680960" y="4572000"/>
            <a:ext cx="39319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0" name="Gujarat text"/>
          <p:cNvSpPr txBox="1"/>
          <p:nvPr/>
        </p:nvSpPr>
        <p:spPr>
          <a:xfrm>
            <a:off x="7955280" y="4681728"/>
            <a:ext cx="33832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Gujarat: ≈ ₹0.94bn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About 32% below Maharashtra; ~15% of total revenue.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Downtime is high at every plant, led by Solar Plant A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7665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hart footnote"/>
          <p:cNvSpPr txBox="1"/>
          <p:nvPr/>
        </p:nvSpPr>
        <p:spPr>
          <a:xfrm>
            <a:off x="548640" y="5989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Values read from the dashboard bar chart; approximate.</a:t>
            </a:r>
            <a:endParaRPr lang="en-US" sz="1000" dirty="0"/>
          </a:p>
        </p:txBody>
      </p:sp>
      <p:sp>
        <p:nvSpPr>
          <p:cNvPr id="5" name="Plant A card"/>
          <p:cNvSpPr/>
          <p:nvPr/>
        </p:nvSpPr>
        <p:spPr>
          <a:xfrm>
            <a:off x="7680960" y="1463040"/>
            <a:ext cx="39319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6" name="Plant A text"/>
          <p:cNvSpPr txBox="1"/>
          <p:nvPr/>
        </p:nvSpPr>
        <p:spPr>
          <a:xfrm>
            <a:off x="7955280" y="1572768"/>
            <a:ext cx="33832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Solar Plant A: ≈ 795 hrs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highest downtime of the five plants.</a:t>
            </a:r>
            <a:endParaRPr lang="en-US" sz="2000" dirty="0"/>
          </a:p>
        </p:txBody>
      </p:sp>
      <p:sp>
        <p:nvSpPr>
          <p:cNvPr id="7" name="Top two card"/>
          <p:cNvSpPr/>
          <p:nvPr/>
        </p:nvSpPr>
        <p:spPr>
          <a:xfrm>
            <a:off x="7680960" y="3017520"/>
            <a:ext cx="39319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8" name="Top two text"/>
          <p:cNvSpPr txBox="1"/>
          <p:nvPr/>
        </p:nvSpPr>
        <p:spPr>
          <a:xfrm>
            <a:off x="7955280" y="3127248"/>
            <a:ext cx="33832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two = 43%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Solar Plant A and Wind Farm West account for ~43% of the 3.64K hours.</a:t>
            </a:r>
            <a:endParaRPr lang="en-US" sz="2000" dirty="0"/>
          </a:p>
        </p:txBody>
      </p:sp>
      <p:sp>
        <p:nvSpPr>
          <p:cNvPr id="9" name="Best plant card"/>
          <p:cNvSpPr/>
          <p:nvPr/>
        </p:nvSpPr>
        <p:spPr>
          <a:xfrm>
            <a:off x="7680960" y="4572000"/>
            <a:ext cx="39319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0" name="Best plant text"/>
          <p:cNvSpPr txBox="1"/>
          <p:nvPr/>
        </p:nvSpPr>
        <p:spPr>
          <a:xfrm>
            <a:off x="7955280" y="4681728"/>
            <a:ext cx="33832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clean plant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Even the best plant lost ≈ 658 hrs, about 27 days.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dashboard is telling us</a:t>
            </a:r>
            <a:endParaRPr lang="en-US" sz="3400" dirty="0"/>
          </a:p>
        </p:txBody>
      </p:sp>
      <p:sp>
        <p:nvSpPr>
          <p:cNvPr id="3" name="Insight card 1"/>
          <p:cNvSpPr/>
          <p:nvPr/>
        </p:nvSpPr>
        <p:spPr>
          <a:xfrm>
            <a:off x="548640" y="1463040"/>
            <a:ext cx="53949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4" name="Insight icon bg 1"/>
          <p:cNvSpPr/>
          <p:nvPr/>
        </p:nvSpPr>
        <p:spPr>
          <a:xfrm>
            <a:off x="868680" y="18288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nsight icon 1" descr="Wind is the backbon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020824"/>
            <a:ext cx="347472" cy="347472"/>
          </a:xfrm>
          <a:prstGeom prst="rect">
            <a:avLst/>
          </a:prstGeom>
        </p:spPr>
      </p:pic>
      <p:sp>
        <p:nvSpPr>
          <p:cNvPr id="6" name="Insight text 1"/>
          <p:cNvSpPr txBox="1"/>
          <p:nvPr/>
        </p:nvSpPr>
        <p:spPr>
          <a:xfrm>
            <a:off x="1874520" y="164592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 is the backbone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42.5% of generation, with solar at 35.6% and hybrid at 21.9%.</a:t>
            </a:r>
            <a:endParaRPr lang="en-US" sz="2000" dirty="0"/>
          </a:p>
        </p:txBody>
      </p:sp>
      <p:sp>
        <p:nvSpPr>
          <p:cNvPr id="7" name="Insight card 2"/>
          <p:cNvSpPr/>
          <p:nvPr/>
        </p:nvSpPr>
        <p:spPr>
          <a:xfrm>
            <a:off x="6217920" y="1463040"/>
            <a:ext cx="53949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8" name="Insight icon bg 2"/>
          <p:cNvSpPr/>
          <p:nvPr/>
        </p:nvSpPr>
        <p:spPr>
          <a:xfrm>
            <a:off x="6537960" y="182880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9" name="Insight icon 2" descr="Revenue is broad-based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984" y="2020824"/>
            <a:ext cx="347472" cy="347472"/>
          </a:xfrm>
          <a:prstGeom prst="rect">
            <a:avLst/>
          </a:prstGeom>
        </p:spPr>
      </p:pic>
      <p:sp>
        <p:nvSpPr>
          <p:cNvPr id="10" name="Insight text 2"/>
          <p:cNvSpPr txBox="1"/>
          <p:nvPr/>
        </p:nvSpPr>
        <p:spPr>
          <a:xfrm>
            <a:off x="7543800" y="164592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is broad-based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Four states earn ₹1.30–1.38bn each; Gujarat is the exception at ≈ ₹0.94bn.</a:t>
            </a:r>
            <a:endParaRPr lang="en-US" sz="2000" dirty="0"/>
          </a:p>
        </p:txBody>
      </p:sp>
      <p:sp>
        <p:nvSpPr>
          <p:cNvPr id="11" name="Insight card 3"/>
          <p:cNvSpPr/>
          <p:nvPr/>
        </p:nvSpPr>
        <p:spPr>
          <a:xfrm>
            <a:off x="548640" y="3794760"/>
            <a:ext cx="53949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2" name="Insight icon bg 3"/>
          <p:cNvSpPr/>
          <p:nvPr/>
        </p:nvSpPr>
        <p:spPr>
          <a:xfrm>
            <a:off x="868680" y="416052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3" name="Insight icon 3" descr="Downtime is fleet-wid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4352544"/>
            <a:ext cx="347472" cy="347472"/>
          </a:xfrm>
          <a:prstGeom prst="rect">
            <a:avLst/>
          </a:prstGeom>
        </p:spPr>
      </p:pic>
      <p:sp>
        <p:nvSpPr>
          <p:cNvPr id="14" name="Insight text 3"/>
          <p:cNvSpPr txBox="1"/>
          <p:nvPr/>
        </p:nvSpPr>
        <p:spPr>
          <a:xfrm>
            <a:off x="1874520" y="397764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Downtime is fleet-wide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3.64K hours lost; every plant sits between ≈ 660 and 800 hours.</a:t>
            </a:r>
            <a:endParaRPr lang="en-US" sz="2000" dirty="0"/>
          </a:p>
        </p:txBody>
      </p:sp>
      <p:sp>
        <p:nvSpPr>
          <p:cNvPr id="15" name="Insight card 4"/>
          <p:cNvSpPr/>
          <p:nvPr/>
        </p:nvSpPr>
        <p:spPr>
          <a:xfrm>
            <a:off x="6217920" y="3794760"/>
            <a:ext cx="53949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6" name="Insight icon bg 4"/>
          <p:cNvSpPr/>
          <p:nvPr/>
        </p:nvSpPr>
        <p:spPr>
          <a:xfrm>
            <a:off x="6537960" y="416052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Insight icon 4" descr="Two numbers need validating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984" y="4352544"/>
            <a:ext cx="347472" cy="347472"/>
          </a:xfrm>
          <a:prstGeom prst="rect">
            <a:avLst/>
          </a:prstGeom>
        </p:spPr>
      </p:pic>
      <p:sp>
        <p:nvSpPr>
          <p:cNvPr id="18" name="Insight text 4"/>
          <p:cNvSpPr txBox="1"/>
          <p:nvPr/>
        </p:nvSpPr>
        <p:spPr>
          <a:xfrm>
            <a:off x="7543800" y="397764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numbers need validating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≈ 99.8% operating margin looks too high, and 2026 may be a partial year.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</a:t>
            </a:r>
            <a:endParaRPr lang="en-US" sz="3400" dirty="0"/>
          </a:p>
        </p:txBody>
      </p:sp>
      <p:pic>
        <p:nvPicPr>
          <p:cNvPr id="3" name="Dashboard screenshot full" descr="Renewable Energy Plant Performance Dashboard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7712" y="1371600"/>
            <a:ext cx="7662672" cy="4754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newable Energy">
  <a:themeElements>
    <a:clrScheme name="Renewable Energy">
      <a:dk1>
        <a:srgbClr val="1B2B2A"/>
      </a:dk1>
      <a:lt1>
        <a:srgbClr val="FFFFFF"/>
      </a:lt1>
      <a:dk2>
        <a:srgbClr val="0F3B3A"/>
      </a:dk2>
      <a:lt2>
        <a:srgbClr val="EAF3F1"/>
      </a:lt2>
      <a:accent1>
        <a:srgbClr val="1B998B"/>
      </a:accent1>
      <a:accent2>
        <a:srgbClr val="E07A1F"/>
      </a:accent2>
      <a:accent3>
        <a:srgbClr val="2E5E8C"/>
      </a:accent3>
      <a:accent4>
        <a:srgbClr val="9B2335"/>
      </a:accent4>
      <a:accent5>
        <a:srgbClr val="7FB7A8"/>
      </a:accent5>
      <a:accent6>
        <a:srgbClr val="5F7270"/>
      </a:accent6>
      <a:hlink>
        <a:srgbClr val="2E5E8C"/>
      </a:hlink>
      <a:folHlink>
        <a:srgbClr val="5F7270"/>
      </a:folHlink>
    </a:clrScheme>
    <a:fontScheme name="Renewable Energ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Renewable Energy Plant Performance Dashboard – Explained</dc:title>
  <dc:subject>PptxGenJS Presentation</dc:subject>
  <dc:creator>PptxGenJS</dc:creator>
  <cp:lastModifiedBy>PptxGenJS</cp:lastModifiedBy>
  <cp:revision>1</cp:revision>
  <dcterms:created xsi:type="dcterms:W3CDTF">2026-10-14T17:30:23Z</dcterms:created>
  <dcterms:modified xsi:type="dcterms:W3CDTF">2026-10-14T17:30:23Z</dcterms:modified>
</cp:coreProperties>
</file>